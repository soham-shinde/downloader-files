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5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6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svg"/><Relationship Id="rId14" Type="http://schemas.openxmlformats.org/officeDocument/2006/relationships/slideLayout" Target="../slideLayouts/slideLayout11.xml"/><Relationship Id="rId1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2809280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Enterprise Event Hub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3608546"/>
            <a:ext cx="7627382" cy="114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Microservices-Based Event Management Platform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58309" y="5073610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Transforming email chaos into organized event discovery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3510" y="604123"/>
            <a:ext cx="6389489" cy="645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Email Overload Problem</a:t>
            </a:r>
            <a:endParaRPr lang="en-US" sz="4050" dirty="0"/>
          </a:p>
        </p:txBody>
      </p:sp>
      <p:sp>
        <p:nvSpPr>
          <p:cNvPr id="4" name="Text 1"/>
          <p:cNvSpPr/>
          <p:nvPr/>
        </p:nvSpPr>
        <p:spPr>
          <a:xfrm>
            <a:off x="6173510" y="1321118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Current Pain Points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173510" y="1910834"/>
            <a:ext cx="7769781" cy="1745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Multiple teams conducting events across all locations and business units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Email-based communication creates massive inbox noise and clutter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Employees consistently miss events relevant to their interests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centralized discovery mechanism for finding events</a:t>
            </a:r>
            <a:endParaRPr lang="en-US" sz="1500" dirty="0"/>
          </a:p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organizers depend on other teams for campaign management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6173510" y="3954780"/>
            <a:ext cx="7769781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5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100+</a:t>
            </a:r>
            <a:endParaRPr lang="en-US" sz="5100" dirty="0"/>
          </a:p>
        </p:txBody>
      </p:sp>
      <p:sp>
        <p:nvSpPr>
          <p:cNvPr id="7" name="Text 4"/>
          <p:cNvSpPr/>
          <p:nvPr/>
        </p:nvSpPr>
        <p:spPr>
          <a:xfrm>
            <a:off x="8766572" y="4834176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Emails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6173510" y="5263753"/>
            <a:ext cx="7769781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Received monthly per employee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173510" y="6017062"/>
            <a:ext cx="7769781" cy="647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00"/>
              </a:lnSpc>
              <a:buNone/>
            </a:pPr>
            <a:r>
              <a:rPr lang="en-US" sz="51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60%</a:t>
            </a:r>
            <a:endParaRPr lang="en-US" sz="5100" dirty="0"/>
          </a:p>
        </p:txBody>
      </p:sp>
      <p:sp>
        <p:nvSpPr>
          <p:cNvPr id="10" name="Text 7"/>
          <p:cNvSpPr/>
          <p:nvPr/>
        </p:nvSpPr>
        <p:spPr>
          <a:xfrm>
            <a:off x="8766572" y="6896457"/>
            <a:ext cx="2583537" cy="322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Missed Events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173510" y="7326035"/>
            <a:ext cx="7769781" cy="299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Relevant events overlooked in inbox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789146"/>
            <a:ext cx="7723823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Hub: The Unified Solution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4616" y="1886069"/>
            <a:ext cx="1316116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centralized platform that transforms event management from chaotic email chains to organized, discoverable experiences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616" y="2445306"/>
            <a:ext cx="6478905" cy="2395895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024" y="2662714"/>
            <a:ext cx="629603" cy="629603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5141" y="2835831"/>
            <a:ext cx="283250" cy="283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2024" y="3495556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Discoverability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52024" y="3962757"/>
            <a:ext cx="604408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events that matter to you through intelligent search and filtering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7416760" y="2445306"/>
            <a:ext cx="6479024" cy="2395895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4168" y="2662714"/>
            <a:ext cx="629603" cy="62960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07285" y="2835831"/>
            <a:ext cx="283250" cy="2832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634168" y="3495556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Personalization</a:t>
            </a:r>
            <a:endParaRPr lang="en-US" sz="2150" dirty="0"/>
          </a:p>
        </p:txBody>
      </p:sp>
      <p:sp>
        <p:nvSpPr>
          <p:cNvPr id="13" name="Text 7"/>
          <p:cNvSpPr/>
          <p:nvPr/>
        </p:nvSpPr>
        <p:spPr>
          <a:xfrm>
            <a:off x="7634168" y="3962757"/>
            <a:ext cx="604420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AI-based suggestions tailored to your interests, role, and preferences</a:t>
            </a:r>
            <a:endParaRPr lang="en-US" sz="1650" dirty="0"/>
          </a:p>
        </p:txBody>
      </p:sp>
      <p:sp>
        <p:nvSpPr>
          <p:cNvPr id="14" name="Shape 8"/>
          <p:cNvSpPr/>
          <p:nvPr/>
        </p:nvSpPr>
        <p:spPr>
          <a:xfrm>
            <a:off x="734616" y="5044440"/>
            <a:ext cx="6478905" cy="2395895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024" y="5261848"/>
            <a:ext cx="629603" cy="62960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5141" y="5434965"/>
            <a:ext cx="283250" cy="28325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952024" y="6094690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Automation</a:t>
            </a:r>
            <a:endParaRPr lang="en-US" sz="2150" dirty="0"/>
          </a:p>
        </p:txBody>
      </p:sp>
      <p:sp>
        <p:nvSpPr>
          <p:cNvPr id="18" name="Text 10"/>
          <p:cNvSpPr/>
          <p:nvPr/>
        </p:nvSpPr>
        <p:spPr>
          <a:xfrm>
            <a:off x="952024" y="6561892"/>
            <a:ext cx="6044089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event lifecycle management from proposal to completion</a:t>
            </a:r>
            <a:endParaRPr lang="en-US" sz="1650" dirty="0"/>
          </a:p>
        </p:txBody>
      </p:sp>
      <p:sp>
        <p:nvSpPr>
          <p:cNvPr id="19" name="Shape 11"/>
          <p:cNvSpPr/>
          <p:nvPr/>
        </p:nvSpPr>
        <p:spPr>
          <a:xfrm>
            <a:off x="7416760" y="5044440"/>
            <a:ext cx="6479024" cy="2395895"/>
          </a:xfrm>
          <a:prstGeom prst="roundRect">
            <a:avLst>
              <a:gd name="adj" fmla="val 13141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34168" y="5261848"/>
            <a:ext cx="629603" cy="629603"/>
          </a:xfrm>
          <a:prstGeom prst="rect">
            <a:avLst/>
          </a:prstGeom>
        </p:spPr>
      </p:pic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807285" y="5434965"/>
            <a:ext cx="283250" cy="283250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7634168" y="6094690"/>
            <a:ext cx="2761655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Integration</a:t>
            </a:r>
            <a:endParaRPr lang="en-US" sz="2150" dirty="0"/>
          </a:p>
        </p:txBody>
      </p:sp>
      <p:sp>
        <p:nvSpPr>
          <p:cNvPr id="23" name="Text 13"/>
          <p:cNvSpPr/>
          <p:nvPr/>
        </p:nvSpPr>
        <p:spPr>
          <a:xfrm>
            <a:off x="7634168" y="6561892"/>
            <a:ext cx="6044208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Seamless connectivity with Calendar, Teams, Viva Engage, and more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13197"/>
            <a:ext cx="5840373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Five Key User Personas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8309" y="1959173"/>
            <a:ext cx="541615" cy="5416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8309" y="2771537"/>
            <a:ext cx="327767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Application Administrator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8309" y="3257669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Configures platform settings, manages user access and permissions, monitors system logs and performance metrics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19819" y="1959173"/>
            <a:ext cx="541615" cy="54161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19819" y="27715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Organizer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19819" y="3257669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Creates and approves events, validates scheduling clashes, manages campaign distribution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81329" y="1959173"/>
            <a:ext cx="541615" cy="54161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81329" y="27715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Governance Team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81329" y="3257669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campaign support, manages event promotion strategies, ensures compliance</a:t>
            </a:r>
            <a:endParaRPr lang="en-US" sz="1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8309" y="5077778"/>
            <a:ext cx="541615" cy="54161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8309" y="589014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Speaker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8309" y="6376273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Proposes speaking sessions, provides session metadata and descriptions, manages content</a:t>
            </a:r>
            <a:endParaRPr lang="en-US" sz="17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19819" y="5077778"/>
            <a:ext cx="541615" cy="54161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219819" y="589014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Audience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5219819" y="6376273"/>
            <a:ext cx="419076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Discovers relevant events, registers for attendance, provides feedback and ratings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81018" y="297894"/>
            <a:ext cx="3410188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Audience-Centric Features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381018" y="2055971"/>
            <a:ext cx="1556742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Personalized Experience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381018" y="2288143"/>
            <a:ext cx="502181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preferences by event type, frequency, and topic areas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Intuitive calendar views: 1-day, multi-day, and weekly formats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Smart popups based on settings or after 1-hour inactivity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One-click calendar synchronization with Outlook integration</a:t>
            </a:r>
            <a:endParaRPr lang="en-US" sz="85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Advanced preference-based filtering and search</a:t>
            </a:r>
            <a:endParaRPr lang="en-US" sz="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4775" y="796171"/>
            <a:ext cx="2581989" cy="344257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381018" y="4380786"/>
            <a:ext cx="1425297" cy="178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User Journey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018" y="4640104"/>
            <a:ext cx="541615" cy="6499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76687" y="4748332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Login</a:t>
            </a:r>
            <a:endParaRPr lang="en-US" sz="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018" y="5290066"/>
            <a:ext cx="541615" cy="6499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76687" y="5398294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Preferences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018" y="5940028"/>
            <a:ext cx="541615" cy="6499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76687" y="6048256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View Events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1018" y="6589990"/>
            <a:ext cx="541615" cy="64996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76687" y="6698218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Register</a:t>
            </a:r>
            <a:endParaRPr lang="en-US" sz="85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1018" y="7239953"/>
            <a:ext cx="541615" cy="649962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3976687" y="7348180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 to Calendar</a:t>
            </a:r>
            <a:endParaRPr lang="en-US" sz="850" dirty="0"/>
          </a:p>
        </p:txBody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81018" y="7889915"/>
            <a:ext cx="541615" cy="649962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976687" y="7998143"/>
            <a:ext cx="7272576" cy="1300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Attend &amp; Feedback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3255" y="511254"/>
            <a:ext cx="5625108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Organizer &amp; Speaker Workflow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043255" y="1081326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Event Lifecycle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43255" y="1518166"/>
            <a:ext cx="31813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01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3255" y="1765697"/>
            <a:ext cx="8030289" cy="228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43255" y="1890951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Draft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043255" y="2222540"/>
            <a:ext cx="803028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Speaker proposes event with metadata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6043255" y="2679263"/>
            <a:ext cx="31813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02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255" y="2910959"/>
            <a:ext cx="8030289" cy="228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3255" y="3052048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Proposed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6043255" y="3383637"/>
            <a:ext cx="803028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Organizer reviews and validates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6043255" y="3840361"/>
            <a:ext cx="31813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03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3255" y="4056102"/>
            <a:ext cx="8030289" cy="228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043255" y="4213146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Approved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043255" y="4544735"/>
            <a:ext cx="803028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Clash detection and capacity check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6043255" y="5001458"/>
            <a:ext cx="318135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Barlow Light" pitchFamily="34" charset="0"/>
                <a:ea typeface="Barlow Light" pitchFamily="34" charset="-122"/>
                <a:cs typeface="Barlow Light" pitchFamily="34" charset="-120"/>
              </a:rPr>
              <a:t>04</a:t>
            </a:r>
            <a:endParaRPr lang="en-US" sz="125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255" y="5201364"/>
            <a:ext cx="8030289" cy="228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43255" y="5374243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Published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043255" y="5705832"/>
            <a:ext cx="8030289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Auto-campaign to channels</a:t>
            </a:r>
            <a:endParaRPr lang="en-US" sz="1250" dirty="0"/>
          </a:p>
        </p:txBody>
      </p:sp>
      <p:sp>
        <p:nvSpPr>
          <p:cNvPr id="21" name="Text 14"/>
          <p:cNvSpPr/>
          <p:nvPr/>
        </p:nvSpPr>
        <p:spPr>
          <a:xfrm>
            <a:off x="6043255" y="6294001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Speaker Actions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043255" y="6672382"/>
            <a:ext cx="3821073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 events with complete metadata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 session details and descriptions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speaker profiles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0260092" y="6294001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Organizer Actions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10260092" y="6672382"/>
            <a:ext cx="3821073" cy="10050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event proposals efficiently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Validate scheduling clashes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Setup meeting bridges automatically</a:t>
            </a:r>
            <a:endParaRPr lang="en-US" sz="1250" dirty="0"/>
          </a:p>
          <a:p>
            <a:pPr algn="l" marL="342900" indent="-342900">
              <a:lnSpc>
                <a:spcPts val="1700"/>
              </a:lnSpc>
              <a:buSzPct val="100000"/>
              <a:buChar char="•"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campaigns to channels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312307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System Architecture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11573"/>
            <a:ext cx="7345442" cy="57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Microservices + Event-Driven Design</a:t>
            </a:r>
            <a:endParaRPr lang="en-US" sz="3550" dirty="0"/>
          </a:p>
        </p:txBody>
      </p:sp>
      <p:sp>
        <p:nvSpPr>
          <p:cNvPr id="4" name="Shape 2"/>
          <p:cNvSpPr/>
          <p:nvPr/>
        </p:nvSpPr>
        <p:spPr>
          <a:xfrm>
            <a:off x="758309" y="3006566"/>
            <a:ext cx="4226838" cy="2020372"/>
          </a:xfrm>
          <a:prstGeom prst="roundRect">
            <a:avLst>
              <a:gd name="adj" fmla="val 1608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364" y="32536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Domain-Driven Design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364" y="3739753"/>
            <a:ext cx="373272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Bounded contexts for clear service boundaries and responsibilities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201722" y="3006566"/>
            <a:ext cx="4226838" cy="2020372"/>
          </a:xfrm>
          <a:prstGeom prst="roundRect">
            <a:avLst>
              <a:gd name="adj" fmla="val 1608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8776" y="32536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Database per Service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8776" y="3739753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service owns its data with eventual consistency via events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9645134" y="3006566"/>
            <a:ext cx="4226957" cy="2020372"/>
          </a:xfrm>
          <a:prstGeom prst="roundRect">
            <a:avLst>
              <a:gd name="adj" fmla="val 16086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92189" y="325362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API Gateway Pattern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92189" y="3739753"/>
            <a:ext cx="3732848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entry point for authentication and request routing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58309" y="5243513"/>
            <a:ext cx="6448544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364" y="54905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SAGA Pattern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364" y="5976699"/>
            <a:ext cx="5954435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Coordination of distributed transactions across services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423428" y="5243513"/>
            <a:ext cx="6448663" cy="1673662"/>
          </a:xfrm>
          <a:prstGeom prst="roundRect">
            <a:avLst>
              <a:gd name="adj" fmla="val 19418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70483" y="549056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Circuit Breaker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670483" y="5976699"/>
            <a:ext cx="595455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Fault tolerance and graceful degradation strategies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719733"/>
            <a:ext cx="5572482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Six Core Microservices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734616" y="1816656"/>
            <a:ext cx="13161169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Each service handles specific domain responsibilities with dedicated databases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616" y="2375892"/>
            <a:ext cx="13161169" cy="5133975"/>
          </a:xfrm>
          <a:prstGeom prst="roundRect">
            <a:avLst>
              <a:gd name="adj" fmla="val 6132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2236" y="2383512"/>
            <a:ext cx="13145929" cy="5895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52024" y="2513052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4242316" y="251305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28798" y="251305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Database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0815280" y="2513052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Responsibility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742236" y="2973110"/>
            <a:ext cx="13145929" cy="5895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52024" y="3102650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Service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242316" y="3102650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8081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28798" y="3102650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eventhub_users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0815280" y="3102650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Auth, Profiles, Roles</a:t>
            </a:r>
            <a:endParaRPr lang="en-US" sz="1650" dirty="0"/>
          </a:p>
        </p:txBody>
      </p:sp>
      <p:sp>
        <p:nvSpPr>
          <p:cNvPr id="15" name="Shape 13"/>
          <p:cNvSpPr/>
          <p:nvPr/>
        </p:nvSpPr>
        <p:spPr>
          <a:xfrm>
            <a:off x="742236" y="3562707"/>
            <a:ext cx="13145929" cy="9201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52024" y="3692247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 Service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4242316" y="3692247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8082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28798" y="3692247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eventhub_events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0815280" y="3692247"/>
            <a:ext cx="286309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CRUD, Approval, Clash Detection</a:t>
            </a:r>
            <a:endParaRPr lang="en-US" sz="1650" dirty="0"/>
          </a:p>
        </p:txBody>
      </p:sp>
      <p:sp>
        <p:nvSpPr>
          <p:cNvPr id="20" name="Shape 18"/>
          <p:cNvSpPr/>
          <p:nvPr/>
        </p:nvSpPr>
        <p:spPr>
          <a:xfrm>
            <a:off x="742236" y="4482822"/>
            <a:ext cx="13145929" cy="58959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52024" y="4612362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 Service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242316" y="461236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8083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528798" y="461236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eventhub_sessions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0815280" y="4612362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Sessions, Speakers, Venues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2236" y="5072420"/>
            <a:ext cx="13145929" cy="58959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52024" y="5201960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Registration Service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4242316" y="5201960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8084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7528798" y="5201960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eventhub_registrations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10815280" y="5201960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Registration, Waitlist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742236" y="5662017"/>
            <a:ext cx="13145929" cy="92011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52024" y="5791557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 Service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4242316" y="5791557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8085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7528798" y="5791557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eventhub_notifications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0815280" y="5791557"/>
            <a:ext cx="286309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Email, FCM Push, WebSocket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742236" y="6582132"/>
            <a:ext cx="13145929" cy="92011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52024" y="6711672"/>
            <a:ext cx="286309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 Service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4242316" y="671167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8086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528798" y="6711672"/>
            <a:ext cx="2859286" cy="330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eventhub_campaigns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0815280" y="6711672"/>
            <a:ext cx="2863096" cy="661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Teams, Viva Engage Publishing</a:t>
            </a:r>
            <a:endParaRPr lang="en-US" sz="1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9016" y="613886"/>
            <a:ext cx="8116491" cy="656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50"/>
              </a:lnSpc>
              <a:buNone/>
            </a:pPr>
            <a:r>
              <a:rPr lang="en-US" sz="4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SAGA Pattern for Data Consistency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699016" y="1731050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SAGA?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99016" y="2243495"/>
            <a:ext cx="4314587" cy="1535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Ensures reliable transaction handling across microservices without tight coupling. Uses compensating transactions instead of ACID rollbacks for eventual consistency.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99016" y="3962876"/>
            <a:ext cx="2677835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Registration Saga Flow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99016" y="4475321"/>
            <a:ext cx="4314587" cy="135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Font typeface="+mj-lt"/>
              <a:buAutoNum type="arabicPeriod" startAt="1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Reserve Seat in Registration Service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Font typeface="+mj-lt"/>
              <a:buAutoNum type="arabicPeriod" startAt="2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Confirmation via Notification Service</a:t>
            </a:r>
            <a:endParaRPr lang="en-US" sz="1550" dirty="0"/>
          </a:p>
          <a:p>
            <a:pPr algn="l" marL="342900" indent="-342900">
              <a:lnSpc>
                <a:spcPts val="2400"/>
              </a:lnSpc>
              <a:buSzPct val="100000"/>
              <a:buFont typeface="+mj-lt"/>
              <a:buAutoNum type="arabicPeriod" startAt="3"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Update Capacity in Session Service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99016" y="6016466"/>
            <a:ext cx="2628067" cy="32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Failure Handling</a:t>
            </a:r>
            <a:endParaRPr lang="en-US" sz="2050" dirty="0"/>
          </a:p>
        </p:txBody>
      </p:sp>
      <p:sp>
        <p:nvSpPr>
          <p:cNvPr id="8" name="Text 6"/>
          <p:cNvSpPr/>
          <p:nvPr/>
        </p:nvSpPr>
        <p:spPr>
          <a:xfrm>
            <a:off x="699016" y="6528911"/>
            <a:ext cx="4314587" cy="921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any step fails, compensating actions automatically rollback previous operations to maintain data integrity.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427" y="2228612"/>
            <a:ext cx="8430458" cy="47053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3255" y="520541"/>
            <a:ext cx="4187071" cy="52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6043255" y="1219200"/>
            <a:ext cx="8030289" cy="1479709"/>
          </a:xfrm>
          <a:prstGeom prst="roundRect">
            <a:avLst>
              <a:gd name="adj" fmla="val 161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9943" y="1385888"/>
            <a:ext cx="477322" cy="477322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41150" y="1517094"/>
            <a:ext cx="214789" cy="21478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209943" y="1980009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3"/>
          <p:cNvSpPr/>
          <p:nvPr/>
        </p:nvSpPr>
        <p:spPr>
          <a:xfrm>
            <a:off x="6209943" y="2311598"/>
            <a:ext cx="769691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Spring Boot 3.2+, Java 17+, MySQL 8.0+, Apache Kafka, Spring Security with OAuth2/JWT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6043255" y="2815709"/>
            <a:ext cx="8030289" cy="1479709"/>
          </a:xfrm>
          <a:prstGeom prst="roundRect">
            <a:avLst>
              <a:gd name="adj" fmla="val 161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9943" y="2982397"/>
            <a:ext cx="477322" cy="477322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41150" y="3113603"/>
            <a:ext cx="214789" cy="214789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6209943" y="3576518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3" name="Text 6"/>
          <p:cNvSpPr/>
          <p:nvPr/>
        </p:nvSpPr>
        <p:spPr>
          <a:xfrm>
            <a:off x="6209943" y="3908108"/>
            <a:ext cx="769691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React 18+, Redux Toolkit, Material-UI, WebSocket with STOMP protocol</a:t>
            </a:r>
            <a:endParaRPr lang="en-US" sz="1250" dirty="0"/>
          </a:p>
        </p:txBody>
      </p:sp>
      <p:sp>
        <p:nvSpPr>
          <p:cNvPr id="14" name="Shape 7"/>
          <p:cNvSpPr/>
          <p:nvPr/>
        </p:nvSpPr>
        <p:spPr>
          <a:xfrm>
            <a:off x="6043255" y="4412218"/>
            <a:ext cx="8030289" cy="1700332"/>
          </a:xfrm>
          <a:prstGeom prst="roundRect">
            <a:avLst>
              <a:gd name="adj" fmla="val 14036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9943" y="4578906"/>
            <a:ext cx="477322" cy="477322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41150" y="4710113"/>
            <a:ext cx="214789" cy="214789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6209943" y="5173028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Infrastructure</a:t>
            </a:r>
            <a:endParaRPr lang="en-US" sz="1600" dirty="0"/>
          </a:p>
        </p:txBody>
      </p:sp>
      <p:sp>
        <p:nvSpPr>
          <p:cNvPr id="18" name="Text 9"/>
          <p:cNvSpPr/>
          <p:nvPr/>
        </p:nvSpPr>
        <p:spPr>
          <a:xfrm>
            <a:off x="6209943" y="5504617"/>
            <a:ext cx="7696914" cy="4412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Docker containers, Kubernetes on AKS, Spring Cloud Gateway, Prometheus + Grafana monitoring</a:t>
            </a:r>
            <a:endParaRPr lang="en-US" sz="1250" dirty="0"/>
          </a:p>
        </p:txBody>
      </p:sp>
      <p:sp>
        <p:nvSpPr>
          <p:cNvPr id="19" name="Shape 10"/>
          <p:cNvSpPr/>
          <p:nvPr/>
        </p:nvSpPr>
        <p:spPr>
          <a:xfrm>
            <a:off x="6043255" y="6229350"/>
            <a:ext cx="8030289" cy="1479709"/>
          </a:xfrm>
          <a:prstGeom prst="roundRect">
            <a:avLst>
              <a:gd name="adj" fmla="val 161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09943" y="6396038"/>
            <a:ext cx="477322" cy="477322"/>
          </a:xfrm>
          <a:prstGeom prst="rect">
            <a:avLst/>
          </a:prstGeom>
        </p:spPr>
      </p:pic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341150" y="6527244"/>
            <a:ext cx="214789" cy="214789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6209943" y="6990159"/>
            <a:ext cx="2093476" cy="261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External APIs</a:t>
            </a:r>
            <a:endParaRPr lang="en-US" sz="1600" dirty="0"/>
          </a:p>
        </p:txBody>
      </p:sp>
      <p:sp>
        <p:nvSpPr>
          <p:cNvPr id="23" name="Text 12"/>
          <p:cNvSpPr/>
          <p:nvPr/>
        </p:nvSpPr>
        <p:spPr>
          <a:xfrm>
            <a:off x="6209943" y="7321748"/>
            <a:ext cx="7696914" cy="220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FCM for push, MS Graph API, Viva Engage API, Azure Communication Services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2026-04-11T04:51:35Z</dcterms:created>
  <dcterms:modified xsi:type="dcterms:W3CDTF">2026-04-11T04:51:35Z</dcterms:modified>
</cp:coreProperties>
</file>